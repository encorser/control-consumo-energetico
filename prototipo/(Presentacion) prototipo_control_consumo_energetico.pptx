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67712" cy="6858000"/>
          </a:xfrm>
          <a:prstGeom prst="rect">
            <a:avLst/>
          </a:prstGeom>
          <a:solidFill>
            <a:srgbClr val="173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46888" y="274320"/>
            <a:ext cx="438912" cy="438912"/>
          </a:xfrm>
          <a:prstGeom prst="ellipse">
            <a:avLst/>
          </a:prstGeom>
          <a:solidFill>
            <a:srgbClr val="4FA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46888" y="27432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6888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 Display"/>
              </a:rPr>
              <a:t>ENERGÍA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75488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B8CCC2"/>
                </a:solidFill>
                <a:latin typeface="Aptos"/>
              </a:rPr>
              <a:t>CONTROL DEL HOGAR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" y="868680"/>
            <a:ext cx="1801368" cy="0"/>
          </a:xfrm>
          <a:prstGeom prst="line">
            <a:avLst/>
          </a:prstGeom>
          <a:ln w="10160">
            <a:solidFill>
              <a:srgbClr val="34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1033271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97B4A7"/>
                </a:solidFill>
                <a:latin typeface="Aptos"/>
              </a:rPr>
              <a:t>MENÚ PRINCIPAL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" y="1371600"/>
            <a:ext cx="1938528" cy="393192"/>
          </a:xfrm>
          <a:prstGeom prst="roundRect">
            <a:avLst>
              <a:gd name="adj" fmla="val 12000"/>
            </a:avLst>
          </a:prstGeom>
          <a:solidFill>
            <a:srgbClr val="204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0896" y="1476756"/>
            <a:ext cx="182880" cy="182880"/>
          </a:xfrm>
          <a:prstGeom prst="ellipse">
            <a:avLst/>
          </a:prstGeom>
          <a:solidFill>
            <a:srgbClr val="4FA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" y="1463040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89888"/>
            <a:ext cx="13898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Panel principal</a:t>
            </a:r>
          </a:p>
        </p:txBody>
      </p:sp>
      <p:sp>
        <p:nvSpPr>
          <p:cNvPr id="13" name="Oval 12"/>
          <p:cNvSpPr/>
          <p:nvPr/>
        </p:nvSpPr>
        <p:spPr>
          <a:xfrm>
            <a:off x="338328" y="1984248"/>
            <a:ext cx="128016" cy="128016"/>
          </a:xfrm>
          <a:prstGeom prst="ellipse">
            <a:avLst/>
          </a:prstGeom>
          <a:solidFill>
            <a:srgbClr val="3B6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" y="1970531"/>
            <a:ext cx="12801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C8D8D0"/>
                </a:solidFill>
                <a:latin typeface="Aptos"/>
              </a:rP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1892807"/>
            <a:ext cx="13898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8D8D0"/>
                </a:solidFill>
                <a:latin typeface="Aptos"/>
              </a:rPr>
              <a:t>Registrar recibo</a:t>
            </a:r>
          </a:p>
        </p:txBody>
      </p:sp>
      <p:sp>
        <p:nvSpPr>
          <p:cNvPr id="16" name="Oval 15"/>
          <p:cNvSpPr/>
          <p:nvPr/>
        </p:nvSpPr>
        <p:spPr>
          <a:xfrm>
            <a:off x="338328" y="2487168"/>
            <a:ext cx="128016" cy="128016"/>
          </a:xfrm>
          <a:prstGeom prst="ellipse">
            <a:avLst/>
          </a:prstGeom>
          <a:solidFill>
            <a:srgbClr val="3B6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" y="2473452"/>
            <a:ext cx="12801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C8D8D0"/>
                </a:solidFill>
                <a:latin typeface="Aptos"/>
              </a:rPr>
              <a:t>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395728"/>
            <a:ext cx="13898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8D8D0"/>
                </a:solidFill>
                <a:latin typeface="Aptos"/>
              </a:rPr>
              <a:t>Historial y comparación</a:t>
            </a:r>
          </a:p>
        </p:txBody>
      </p:sp>
      <p:sp>
        <p:nvSpPr>
          <p:cNvPr id="19" name="Oval 18"/>
          <p:cNvSpPr/>
          <p:nvPr/>
        </p:nvSpPr>
        <p:spPr>
          <a:xfrm>
            <a:off x="338328" y="2990088"/>
            <a:ext cx="128016" cy="128016"/>
          </a:xfrm>
          <a:prstGeom prst="ellipse">
            <a:avLst/>
          </a:prstGeom>
          <a:solidFill>
            <a:srgbClr val="3B6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" y="2976372"/>
            <a:ext cx="12801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C8D8D0"/>
                </a:solidFill>
                <a:latin typeface="Aptos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898648"/>
            <a:ext cx="13898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8D8D0"/>
                </a:solidFill>
                <a:latin typeface="Aptos"/>
              </a:rPr>
              <a:t>Análisis y recomendaciones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" y="5431536"/>
            <a:ext cx="1865376" cy="859536"/>
          </a:xfrm>
          <a:prstGeom prst="roundRect">
            <a:avLst>
              <a:gd name="adj" fmla="val 12000"/>
            </a:avLst>
          </a:prstGeom>
          <a:solidFill>
            <a:srgbClr val="204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47472" y="5586984"/>
            <a:ext cx="283464" cy="283464"/>
          </a:xfrm>
          <a:prstGeom prst="ellipse">
            <a:avLst/>
          </a:prstGeom>
          <a:solidFill>
            <a:srgbClr val="315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5582412"/>
            <a:ext cx="28346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AE9E0"/>
                </a:solidFill>
                <a:latin typeface="Aptos"/>
              </a:rPr>
              <a:t>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" y="551383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Vivienda familiar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5760720"/>
            <a:ext cx="12070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C4D7CD"/>
                </a:solidFill>
                <a:latin typeface="Aptos"/>
              </a:rPr>
              <a:t>Tuzamapan · Caso hipotético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" y="6446520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97B4A7"/>
                </a:solidFill>
                <a:latin typeface="Aptos"/>
              </a:rPr>
              <a:t>PROTOTIPO ACADÉMICO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78608" y="246888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D302B"/>
                </a:solidFill>
                <a:latin typeface="Aptos Display"/>
              </a:rPr>
              <a:t>Panel principal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96896" y="667512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C7B75"/>
                </a:solidFill>
                <a:latin typeface="Aptos"/>
              </a:rPr>
              <a:t>Resumen del consumo eléctrico de la vivienda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93808" y="329184"/>
            <a:ext cx="1417320" cy="283464"/>
          </a:xfrm>
          <a:prstGeom prst="roundRect">
            <a:avLst>
              <a:gd name="adj" fmla="val 12000"/>
            </a:avLst>
          </a:prstGeom>
          <a:solidFill>
            <a:srgbClr val="FF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8672" y="329184"/>
            <a:ext cx="13075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8D641B"/>
                </a:solidFill>
                <a:latin typeface="Aptos"/>
              </a:rPr>
              <a:t>DATOS HIPOTÉTICOS</a:t>
            </a:r>
          </a:p>
        </p:txBody>
      </p:sp>
      <p:sp>
        <p:nvSpPr>
          <p:cNvPr id="32" name="Oval 31"/>
          <p:cNvSpPr/>
          <p:nvPr/>
        </p:nvSpPr>
        <p:spPr>
          <a:xfrm>
            <a:off x="11484864" y="292608"/>
            <a:ext cx="384048" cy="384048"/>
          </a:xfrm>
          <a:prstGeom prst="ellipse">
            <a:avLst/>
          </a:prstGeom>
          <a:solidFill>
            <a:srgbClr val="E4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84864" y="2926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E35"/>
                </a:solidFill>
                <a:latin typeface="Aptos"/>
              </a:rPr>
              <a:t>U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42032" y="1051560"/>
            <a:ext cx="9272016" cy="0"/>
          </a:xfrm>
          <a:prstGeom prst="line">
            <a:avLst/>
          </a:prstGeom>
          <a:ln w="12700">
            <a:solidFill>
              <a:srgbClr val="DDE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596896" y="6547104"/>
            <a:ext cx="5669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7948E"/>
                </a:solidFill>
                <a:latin typeface="Aptos"/>
              </a:rPr>
              <a:t>Prototipo visual · Sin conexión automática con CFE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6547104"/>
            <a:ext cx="162763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7948E"/>
                </a:solidFill>
                <a:latin typeface="Aptos"/>
              </a:rPr>
              <a:t>PANTALLA 1 DE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96896" y="123444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D302B"/>
                </a:solidFill>
                <a:latin typeface="Aptos Display"/>
              </a:rPr>
              <a:t>Resumen del periodo más reciente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96896" y="1508760"/>
            <a:ext cx="56692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C7B75"/>
                </a:solidFill>
                <a:latin typeface="Aptos"/>
              </a:rPr>
              <a:t>Consulta rápida de los recibos que has registrado.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47504" y="1271016"/>
            <a:ext cx="2011680" cy="420624"/>
          </a:xfrm>
          <a:prstGeom prst="roundRect">
            <a:avLst>
              <a:gd name="adj" fmla="val 12000"/>
            </a:avLst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38944" y="1280160"/>
            <a:ext cx="18288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＋  Registrar recibo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87752" y="1847088"/>
            <a:ext cx="2852928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D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752344" y="2011680"/>
            <a:ext cx="91440" cy="896112"/>
          </a:xfrm>
          <a:prstGeom prst="roundRect">
            <a:avLst>
              <a:gd name="adj" fmla="val 12000"/>
            </a:avLst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35224" y="2002536"/>
            <a:ext cx="23591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6C7B75"/>
                </a:solidFill>
                <a:latin typeface="Aptos"/>
              </a:rPr>
              <a:t>CONSUMO REGISTRADO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35224" y="2276856"/>
            <a:ext cx="239572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D302B"/>
                </a:solidFill>
                <a:latin typeface="Aptos Display"/>
              </a:rPr>
              <a:t>320 kWh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35224" y="2734056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2E7D5B"/>
                </a:solidFill>
                <a:latin typeface="Aptos"/>
              </a:rPr>
              <a:t>Periodo más reciente</a:t>
            </a:r>
          </a:p>
        </p:txBody>
      </p:sp>
      <p:sp>
        <p:nvSpPr>
          <p:cNvPr id="46" name="Oval 45"/>
          <p:cNvSpPr/>
          <p:nvPr/>
        </p:nvSpPr>
        <p:spPr>
          <a:xfrm>
            <a:off x="4965192" y="1984248"/>
            <a:ext cx="283464" cy="283464"/>
          </a:xfrm>
          <a:prstGeom prst="ellipse">
            <a:avLst/>
          </a:prstGeom>
          <a:solidFill>
            <a:srgbClr val="E5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65192" y="1984248"/>
            <a:ext cx="28346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7D5B"/>
                </a:solidFill>
                <a:latin typeface="Aptos"/>
              </a:rPr>
              <a:t>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596128" y="1847088"/>
            <a:ext cx="2852928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D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760720" y="2011680"/>
            <a:ext cx="91440" cy="896112"/>
          </a:xfrm>
          <a:prstGeom prst="roundRect">
            <a:avLst>
              <a:gd name="adj" fmla="val 12000"/>
            </a:avLst>
          </a:prstGeom>
          <a:solidFill>
            <a:srgbClr val="3D6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0" y="2002536"/>
            <a:ext cx="23591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6C7B75"/>
                </a:solidFill>
                <a:latin typeface="Aptos"/>
              </a:rPr>
              <a:t>IMPORTE DEL RECIBO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2276856"/>
            <a:ext cx="239572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D302B"/>
                </a:solidFill>
                <a:latin typeface="Aptos Display"/>
              </a:rPr>
              <a:t>$698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0" y="2734056"/>
            <a:ext cx="239572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3D6F87"/>
                </a:solidFill>
                <a:latin typeface="Aptos"/>
              </a:rPr>
              <a:t>Pesos mexicanos</a:t>
            </a:r>
          </a:p>
        </p:txBody>
      </p:sp>
      <p:sp>
        <p:nvSpPr>
          <p:cNvPr id="53" name="Oval 52"/>
          <p:cNvSpPr/>
          <p:nvPr/>
        </p:nvSpPr>
        <p:spPr>
          <a:xfrm>
            <a:off x="7973568" y="1984248"/>
            <a:ext cx="283464" cy="283464"/>
          </a:xfrm>
          <a:prstGeom prst="ellipse">
            <a:avLst/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73568" y="1984248"/>
            <a:ext cx="28346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D6F87"/>
                </a:solidFill>
                <a:latin typeface="Aptos"/>
              </a:rPr>
              <a:t>$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04504" y="1847088"/>
            <a:ext cx="3063240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D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769096" y="2011680"/>
            <a:ext cx="91440" cy="896112"/>
          </a:xfrm>
          <a:prstGeom prst="roundRect">
            <a:avLst>
              <a:gd name="adj" fmla="val 12000"/>
            </a:avLst>
          </a:prstGeom>
          <a:solidFill>
            <a:srgbClr val="D99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51976" y="2002536"/>
            <a:ext cx="256946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6C7B75"/>
                </a:solidFill>
                <a:latin typeface="Aptos"/>
              </a:rPr>
              <a:t>VARIACIÓN DEL CONSUMO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51976" y="2276856"/>
            <a:ext cx="260604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D302B"/>
                </a:solidFill>
                <a:latin typeface="Aptos Display"/>
              </a:rPr>
              <a:t>+12.3%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51976" y="2734056"/>
            <a:ext cx="26060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D99B2B"/>
                </a:solidFill>
                <a:latin typeface="Aptos"/>
              </a:rPr>
              <a:t>+35 kWh vs. periodo anterior</a:t>
            </a:r>
          </a:p>
        </p:txBody>
      </p:sp>
      <p:sp>
        <p:nvSpPr>
          <p:cNvPr id="60" name="Oval 59"/>
          <p:cNvSpPr/>
          <p:nvPr/>
        </p:nvSpPr>
        <p:spPr>
          <a:xfrm>
            <a:off x="11192256" y="1984248"/>
            <a:ext cx="283464" cy="283464"/>
          </a:xfrm>
          <a:prstGeom prst="ellipse">
            <a:avLst/>
          </a:prstGeom>
          <a:solidFill>
            <a:srgbClr val="FF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192256" y="1984248"/>
            <a:ext cx="28346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9B2B"/>
                </a:solidFill>
                <a:latin typeface="Aptos"/>
              </a:rPr>
              <a:t>↑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587752" y="3273552"/>
            <a:ext cx="5669280" cy="2212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D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816352" y="3474720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D302B"/>
                </a:solidFill>
                <a:latin typeface="Aptos Display"/>
              </a:rPr>
              <a:t>Comparación de consumo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16352" y="3730752"/>
            <a:ext cx="41148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C7B75"/>
                </a:solidFill>
                <a:latin typeface="Aptos"/>
              </a:rPr>
              <a:t>Consumo registrado por periodo (kWh)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976872" y="3474720"/>
            <a:ext cx="987552" cy="237744"/>
          </a:xfrm>
          <a:prstGeom prst="roundRect">
            <a:avLst>
              <a:gd name="adj" fmla="val 12000"/>
            </a:avLst>
          </a:prstGeom>
          <a:solidFill>
            <a:srgbClr val="FCE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31736" y="3474720"/>
            <a:ext cx="87782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BA5549"/>
                </a:solidFill>
                <a:latin typeface="Aptos"/>
              </a:rPr>
              <a:t>INCREMENTO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3063240" y="5148072"/>
            <a:ext cx="4663439" cy="0"/>
          </a:xfrm>
          <a:prstGeom prst="line">
            <a:avLst/>
          </a:prstGeom>
          <a:ln w="12700">
            <a:solidFill>
              <a:srgbClr val="D3DE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749039" y="4215383"/>
            <a:ext cx="0" cy="932689"/>
          </a:xfrm>
          <a:prstGeom prst="line">
            <a:avLst/>
          </a:prstGeom>
          <a:ln w="6350">
            <a:solidFill>
              <a:srgbClr val="EEF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754880" y="4215383"/>
            <a:ext cx="0" cy="932689"/>
          </a:xfrm>
          <a:prstGeom prst="line">
            <a:avLst/>
          </a:prstGeom>
          <a:ln w="6350">
            <a:solidFill>
              <a:srgbClr val="EEF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760720" y="4215383"/>
            <a:ext cx="0" cy="932689"/>
          </a:xfrm>
          <a:prstGeom prst="line">
            <a:avLst/>
          </a:prstGeom>
          <a:ln w="6350">
            <a:solidFill>
              <a:srgbClr val="EEF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766560" y="4215383"/>
            <a:ext cx="0" cy="932689"/>
          </a:xfrm>
          <a:prstGeom prst="line">
            <a:avLst/>
          </a:prstGeom>
          <a:ln w="6350">
            <a:solidFill>
              <a:srgbClr val="EEF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589520" y="4215383"/>
            <a:ext cx="0" cy="932689"/>
          </a:xfrm>
          <a:prstGeom prst="line">
            <a:avLst/>
          </a:prstGeom>
          <a:ln w="6350">
            <a:solidFill>
              <a:srgbClr val="EEF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3886200" y="4343400"/>
            <a:ext cx="841248" cy="804672"/>
          </a:xfrm>
          <a:prstGeom prst="roundRect">
            <a:avLst>
              <a:gd name="adj" fmla="val 12000"/>
            </a:avLst>
          </a:prstGeom>
          <a:solidFill>
            <a:srgbClr val="8DB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971032" y="4242816"/>
            <a:ext cx="841248" cy="905256"/>
          </a:xfrm>
          <a:prstGeom prst="roundRect">
            <a:avLst>
              <a:gd name="adj" fmla="val 12000"/>
            </a:avLst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703320" y="4123944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D302B"/>
                </a:solidFill>
                <a:latin typeface="Aptos"/>
              </a:rPr>
              <a:t>285 kWh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806440" y="4023359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D302B"/>
                </a:solidFill>
                <a:latin typeface="Aptos"/>
              </a:rPr>
              <a:t>320 kWh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57600" y="5202936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C7B75"/>
                </a:solidFill>
                <a:latin typeface="Aptos"/>
              </a:rPr>
              <a:t>Periodo anterior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60720" y="5202936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C7B75"/>
                </a:solidFill>
                <a:latin typeface="Aptos"/>
              </a:rPr>
              <a:t>Periodo actual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449056" y="3273552"/>
            <a:ext cx="3218688" cy="2212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D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686800" y="3483864"/>
            <a:ext cx="2697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D302B"/>
                </a:solidFill>
                <a:latin typeface="Aptos Display"/>
              </a:rPr>
              <a:t>Resultado del análisis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686800" y="3886200"/>
            <a:ext cx="2734056" cy="530352"/>
          </a:xfrm>
          <a:prstGeom prst="roundRect">
            <a:avLst>
              <a:gd name="adj" fmla="val 12000"/>
            </a:avLst>
          </a:prstGeom>
          <a:solidFill>
            <a:srgbClr val="FF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823960" y="3995928"/>
            <a:ext cx="256032" cy="256032"/>
          </a:xfrm>
          <a:prstGeom prst="ellipse">
            <a:avLst/>
          </a:prstGeom>
          <a:solidFill>
            <a:srgbClr val="D99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823960" y="3991356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62288" y="3931920"/>
            <a:ext cx="208483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D641B"/>
                </a:solidFill>
                <a:latin typeface="Aptos"/>
              </a:rPr>
              <a:t>Se detectó un incremento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695944" y="4544568"/>
            <a:ext cx="267004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C7B75"/>
                </a:solidFill>
                <a:latin typeface="Aptos"/>
              </a:rPr>
              <a:t>El consumo aumentó 35 kWh frente al periodo anterior.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686800" y="5065776"/>
            <a:ext cx="2734056" cy="274320"/>
          </a:xfrm>
          <a:prstGeom prst="roundRect">
            <a:avLst>
              <a:gd name="adj" fmla="val 12000"/>
            </a:avLst>
          </a:prstGeom>
          <a:solidFill>
            <a:srgbClr val="E5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750808" y="506577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2E7D5B"/>
                </a:solidFill>
                <a:latin typeface="Aptos"/>
              </a:rPr>
              <a:t>Ver análisis y recomendaciones  →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587752" y="5650992"/>
            <a:ext cx="9079992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D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816352" y="571500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6C7B75"/>
                </a:solidFill>
                <a:latin typeface="Aptos"/>
              </a:rPr>
              <a:t>Último registro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23360" y="5696712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D302B"/>
                </a:solidFill>
                <a:latin typeface="Aptos"/>
              </a:rPr>
              <a:t>01 sep – 30 sep 2026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98464" y="5696712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D302B"/>
                </a:solidFill>
                <a:latin typeface="Aptos"/>
              </a:rPr>
              <a:t>320 kWh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51192" y="56967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D302B"/>
                </a:solidFill>
                <a:latin typeface="Aptos"/>
              </a:rPr>
              <a:t>$698 MXN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848088" y="5742432"/>
            <a:ext cx="1051560" cy="219456"/>
          </a:xfrm>
          <a:prstGeom prst="roundRect">
            <a:avLst>
              <a:gd name="adj" fmla="val 12000"/>
            </a:avLst>
          </a:prstGeom>
          <a:solidFill>
            <a:srgbClr val="E5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902952" y="5742432"/>
            <a:ext cx="94183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E7D5B"/>
                </a:solidFill>
                <a:latin typeface="Aptos"/>
              </a:rPr>
              <a:t>REGISTRADO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67712" cy="6858000"/>
          </a:xfrm>
          <a:prstGeom prst="rect">
            <a:avLst/>
          </a:prstGeom>
          <a:solidFill>
            <a:srgbClr val="173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46888" y="274320"/>
            <a:ext cx="438912" cy="438912"/>
          </a:xfrm>
          <a:prstGeom prst="ellipse">
            <a:avLst/>
          </a:prstGeom>
          <a:solidFill>
            <a:srgbClr val="4FA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46888" y="27432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6888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 Display"/>
              </a:rPr>
              <a:t>ENERGÍA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75488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B8CCC2"/>
                </a:solidFill>
                <a:latin typeface="Aptos"/>
              </a:rPr>
              <a:t>CONTROL DEL HOGAR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" y="868680"/>
            <a:ext cx="1801368" cy="0"/>
          </a:xfrm>
          <a:prstGeom prst="line">
            <a:avLst/>
          </a:prstGeom>
          <a:ln w="10160">
            <a:solidFill>
              <a:srgbClr val="34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1033271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97B4A7"/>
                </a:solidFill>
                <a:latin typeface="Aptos"/>
              </a:rPr>
              <a:t>MENÚ PRINCIPAL</a:t>
            </a:r>
          </a:p>
        </p:txBody>
      </p:sp>
      <p:sp>
        <p:nvSpPr>
          <p:cNvPr id="9" name="Oval 8"/>
          <p:cNvSpPr/>
          <p:nvPr/>
        </p:nvSpPr>
        <p:spPr>
          <a:xfrm>
            <a:off x="338328" y="1481328"/>
            <a:ext cx="128016" cy="128016"/>
          </a:xfrm>
          <a:prstGeom prst="ellipse">
            <a:avLst/>
          </a:prstGeom>
          <a:solidFill>
            <a:srgbClr val="3B6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1467612"/>
            <a:ext cx="12801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C8D8D0"/>
                </a:solidFill>
                <a:latin typeface="Aptos"/>
              </a:rP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389888"/>
            <a:ext cx="13898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8D8D0"/>
                </a:solidFill>
                <a:latin typeface="Aptos"/>
              </a:rPr>
              <a:t>Panel principal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2" y="1874519"/>
            <a:ext cx="1938528" cy="393192"/>
          </a:xfrm>
          <a:prstGeom prst="roundRect">
            <a:avLst>
              <a:gd name="adj" fmla="val 12000"/>
            </a:avLst>
          </a:prstGeom>
          <a:solidFill>
            <a:srgbClr val="204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0896" y="1979676"/>
            <a:ext cx="182880" cy="182880"/>
          </a:xfrm>
          <a:prstGeom prst="ellipse">
            <a:avLst/>
          </a:prstGeom>
          <a:solidFill>
            <a:srgbClr val="4FA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" y="1965960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1892807"/>
            <a:ext cx="13898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Registrar recibo</a:t>
            </a:r>
          </a:p>
        </p:txBody>
      </p:sp>
      <p:sp>
        <p:nvSpPr>
          <p:cNvPr id="16" name="Oval 15"/>
          <p:cNvSpPr/>
          <p:nvPr/>
        </p:nvSpPr>
        <p:spPr>
          <a:xfrm>
            <a:off x="338328" y="2487168"/>
            <a:ext cx="128016" cy="128016"/>
          </a:xfrm>
          <a:prstGeom prst="ellipse">
            <a:avLst/>
          </a:prstGeom>
          <a:solidFill>
            <a:srgbClr val="3B6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" y="2473452"/>
            <a:ext cx="12801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C8D8D0"/>
                </a:solidFill>
                <a:latin typeface="Aptos"/>
              </a:rPr>
              <a:t>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395728"/>
            <a:ext cx="13898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8D8D0"/>
                </a:solidFill>
                <a:latin typeface="Aptos"/>
              </a:rPr>
              <a:t>Historial y comparación</a:t>
            </a:r>
          </a:p>
        </p:txBody>
      </p:sp>
      <p:sp>
        <p:nvSpPr>
          <p:cNvPr id="19" name="Oval 18"/>
          <p:cNvSpPr/>
          <p:nvPr/>
        </p:nvSpPr>
        <p:spPr>
          <a:xfrm>
            <a:off x="338328" y="2990088"/>
            <a:ext cx="128016" cy="128016"/>
          </a:xfrm>
          <a:prstGeom prst="ellipse">
            <a:avLst/>
          </a:prstGeom>
          <a:solidFill>
            <a:srgbClr val="3B6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" y="2976372"/>
            <a:ext cx="12801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C8D8D0"/>
                </a:solidFill>
                <a:latin typeface="Aptos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898648"/>
            <a:ext cx="13898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8D8D0"/>
                </a:solidFill>
                <a:latin typeface="Aptos"/>
              </a:rPr>
              <a:t>Análisis y recomendaciones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" y="5431536"/>
            <a:ext cx="1865376" cy="859536"/>
          </a:xfrm>
          <a:prstGeom prst="roundRect">
            <a:avLst>
              <a:gd name="adj" fmla="val 12000"/>
            </a:avLst>
          </a:prstGeom>
          <a:solidFill>
            <a:srgbClr val="204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47472" y="5586984"/>
            <a:ext cx="283464" cy="283464"/>
          </a:xfrm>
          <a:prstGeom prst="ellipse">
            <a:avLst/>
          </a:prstGeom>
          <a:solidFill>
            <a:srgbClr val="315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5582412"/>
            <a:ext cx="28346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AE9E0"/>
                </a:solidFill>
                <a:latin typeface="Aptos"/>
              </a:rPr>
              <a:t>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" y="551383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Vivienda familiar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5760720"/>
            <a:ext cx="12070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C4D7CD"/>
                </a:solidFill>
                <a:latin typeface="Aptos"/>
              </a:rPr>
              <a:t>Tuzamapan · Caso hipotético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" y="6446520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97B4A7"/>
                </a:solidFill>
                <a:latin typeface="Aptos"/>
              </a:rPr>
              <a:t>PROTOTIPO ACADÉMICO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78608" y="246888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D302B"/>
                </a:solidFill>
                <a:latin typeface="Aptos Display"/>
              </a:rPr>
              <a:t>Registrar recibo de CFE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96896" y="667512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C7B75"/>
                </a:solidFill>
                <a:latin typeface="Aptos"/>
              </a:rPr>
              <a:t>Captura manual de los datos del recibo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93808" y="329184"/>
            <a:ext cx="1417320" cy="283464"/>
          </a:xfrm>
          <a:prstGeom prst="roundRect">
            <a:avLst>
              <a:gd name="adj" fmla="val 12000"/>
            </a:avLst>
          </a:prstGeom>
          <a:solidFill>
            <a:srgbClr val="FF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8672" y="329184"/>
            <a:ext cx="13075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8D641B"/>
                </a:solidFill>
                <a:latin typeface="Aptos"/>
              </a:rPr>
              <a:t>DATOS HIPOTÉTICOS</a:t>
            </a:r>
          </a:p>
        </p:txBody>
      </p:sp>
      <p:sp>
        <p:nvSpPr>
          <p:cNvPr id="32" name="Oval 31"/>
          <p:cNvSpPr/>
          <p:nvPr/>
        </p:nvSpPr>
        <p:spPr>
          <a:xfrm>
            <a:off x="11484864" y="292608"/>
            <a:ext cx="384048" cy="384048"/>
          </a:xfrm>
          <a:prstGeom prst="ellipse">
            <a:avLst/>
          </a:prstGeom>
          <a:solidFill>
            <a:srgbClr val="E4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84864" y="2926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E35"/>
                </a:solidFill>
                <a:latin typeface="Aptos"/>
              </a:rPr>
              <a:t>U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42032" y="1051560"/>
            <a:ext cx="9272016" cy="0"/>
          </a:xfrm>
          <a:prstGeom prst="line">
            <a:avLst/>
          </a:prstGeom>
          <a:ln w="12700">
            <a:solidFill>
              <a:srgbClr val="DDE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596896" y="6547104"/>
            <a:ext cx="5669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7948E"/>
                </a:solidFill>
                <a:latin typeface="Aptos"/>
              </a:rPr>
              <a:t>Prototipo visual · Sin conexión automática con CFE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6547104"/>
            <a:ext cx="162763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7948E"/>
                </a:solidFill>
                <a:latin typeface="Aptos"/>
              </a:rPr>
              <a:t>PANTALLA 2 DE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96896" y="126187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D302B"/>
                </a:solidFill>
                <a:latin typeface="Aptos Display"/>
              </a:rPr>
              <a:t>Datos del recibo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96896" y="1545336"/>
            <a:ext cx="6217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C7B75"/>
                </a:solidFill>
                <a:latin typeface="Aptos"/>
              </a:rPr>
              <a:t>Ingresa la información tal como aparece en el recibo.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66960" y="1298448"/>
            <a:ext cx="1673352" cy="265176"/>
          </a:xfrm>
          <a:prstGeom prst="roundRect">
            <a:avLst>
              <a:gd name="adj" fmla="val 12000"/>
            </a:avLst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21824" y="1298448"/>
            <a:ext cx="156362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3D6F87"/>
                </a:solidFill>
                <a:latin typeface="Aptos"/>
              </a:rPr>
              <a:t>CAPTURA MANUAL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96896" y="1883664"/>
            <a:ext cx="5870448" cy="41879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D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80360" y="210312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D302B"/>
                </a:solidFill>
                <a:latin typeface="Aptos"/>
              </a:rPr>
              <a:t>Periodo facturado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80360" y="253288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C7B75"/>
                </a:solidFill>
                <a:latin typeface="Aptos"/>
              </a:rPr>
              <a:t>Fecha de inicio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880360" y="2761488"/>
            <a:ext cx="2468880" cy="466344"/>
          </a:xfrm>
          <a:prstGeom prst="roundRect">
            <a:avLst>
              <a:gd name="adj" fmla="val 12000"/>
            </a:avLst>
          </a:prstGeom>
          <a:solidFill>
            <a:srgbClr val="FBFCFB"/>
          </a:solidFill>
          <a:ln w="10160">
            <a:solidFill>
              <a:srgbClr val="DD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54096" y="2779776"/>
            <a:ext cx="211226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D302B"/>
                </a:solidFill>
                <a:latin typeface="Aptos"/>
              </a:rPr>
              <a:t>01/09/2026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59552" y="253288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C7B75"/>
                </a:solidFill>
                <a:latin typeface="Aptos"/>
              </a:rPr>
              <a:t>Fecha de fin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559552" y="2761488"/>
            <a:ext cx="2468880" cy="466344"/>
          </a:xfrm>
          <a:prstGeom prst="roundRect">
            <a:avLst>
              <a:gd name="adj" fmla="val 12000"/>
            </a:avLst>
          </a:prstGeom>
          <a:solidFill>
            <a:srgbClr val="FBFCFB"/>
          </a:solidFill>
          <a:ln w="10160">
            <a:solidFill>
              <a:srgbClr val="DD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33288" y="2779776"/>
            <a:ext cx="211226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D302B"/>
                </a:solidFill>
                <a:latin typeface="Aptos"/>
              </a:rPr>
              <a:t>30/09/2026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880360" y="3456432"/>
            <a:ext cx="5276088" cy="0"/>
          </a:xfrm>
          <a:prstGeom prst="line">
            <a:avLst/>
          </a:prstGeom>
          <a:ln w="10160">
            <a:solidFill>
              <a:srgbClr val="DDE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880360" y="3630168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C7B75"/>
                </a:solidFill>
                <a:latin typeface="Aptos"/>
              </a:rPr>
              <a:t>Consumo eléctrico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880360" y="3858768"/>
            <a:ext cx="2468880" cy="530352"/>
          </a:xfrm>
          <a:prstGeom prst="roundRect">
            <a:avLst>
              <a:gd name="adj" fmla="val 12000"/>
            </a:avLst>
          </a:prstGeom>
          <a:solidFill>
            <a:srgbClr val="FBFCFB"/>
          </a:solidFill>
          <a:ln w="10160">
            <a:solidFill>
              <a:srgbClr val="DD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72384" y="3877056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D302B"/>
                </a:solidFill>
                <a:latin typeface="Aptos"/>
              </a:rPr>
              <a:t>320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3895344"/>
            <a:ext cx="502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6C7B75"/>
                </a:solidFill>
                <a:latin typeface="Aptos"/>
              </a:rPr>
              <a:t>kWh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59552" y="3630168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C7B75"/>
                </a:solidFill>
                <a:latin typeface="Aptos"/>
              </a:rPr>
              <a:t>Importe del recibo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559552" y="3858768"/>
            <a:ext cx="2468880" cy="530352"/>
          </a:xfrm>
          <a:prstGeom prst="roundRect">
            <a:avLst>
              <a:gd name="adj" fmla="val 12000"/>
            </a:avLst>
          </a:prstGeom>
          <a:solidFill>
            <a:srgbClr val="FBFCFB"/>
          </a:solidFill>
          <a:ln w="10160">
            <a:solidFill>
              <a:srgbClr val="DD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51576" y="3877056"/>
            <a:ext cx="14173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D302B"/>
                </a:solidFill>
                <a:latin typeface="Aptos"/>
              </a:rPr>
              <a:t>698.00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33488" y="3895344"/>
            <a:ext cx="502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6C7B75"/>
                </a:solidFill>
                <a:latin typeface="Aptos"/>
              </a:rPr>
              <a:t>MXN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880360" y="4663440"/>
            <a:ext cx="5148072" cy="457200"/>
          </a:xfrm>
          <a:prstGeom prst="roundRect">
            <a:avLst>
              <a:gd name="adj" fmla="val 12000"/>
            </a:avLst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35808" y="4672584"/>
            <a:ext cx="4846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3D6F87"/>
                </a:solidFill>
                <a:latin typeface="Aptos"/>
              </a:rPr>
              <a:t>Los campos mostrados son datos hipotéticos de ejemplo.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285232" y="5404104"/>
            <a:ext cx="1252728" cy="402336"/>
          </a:xfrm>
          <a:prstGeom prst="roundRect">
            <a:avLst>
              <a:gd name="adj" fmla="val 12000"/>
            </a:avLst>
          </a:prstGeom>
          <a:solidFill>
            <a:srgbClr val="F2F5F3"/>
          </a:solidFill>
          <a:ln w="10160">
            <a:solidFill>
              <a:srgbClr val="DD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21808" y="5413248"/>
            <a:ext cx="11795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C7B75"/>
                </a:solidFill>
                <a:latin typeface="Aptos"/>
              </a:rPr>
              <a:t>Cancelar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656832" y="5404104"/>
            <a:ext cx="1371600" cy="402336"/>
          </a:xfrm>
          <a:prstGeom prst="roundRect">
            <a:avLst>
              <a:gd name="adj" fmla="val 12000"/>
            </a:avLst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84264" y="5413248"/>
            <a:ext cx="13167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Guardar recibo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705088" y="1883664"/>
            <a:ext cx="2962656" cy="1975104"/>
          </a:xfrm>
          <a:prstGeom prst="roundRect">
            <a:avLst>
              <a:gd name="adj" fmla="val 12000"/>
            </a:avLst>
          </a:prstGeom>
          <a:solidFill>
            <a:srgbClr val="F0F8F2"/>
          </a:solidFill>
          <a:ln w="10160">
            <a:solidFill>
              <a:srgbClr val="D6E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79408" y="2112264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E35"/>
                </a:solidFill>
                <a:latin typeface="Aptos Display"/>
              </a:rPr>
              <a:t>Antes de guardar</a:t>
            </a:r>
          </a:p>
        </p:txBody>
      </p:sp>
      <p:sp>
        <p:nvSpPr>
          <p:cNvPr id="66" name="Oval 65"/>
          <p:cNvSpPr/>
          <p:nvPr/>
        </p:nvSpPr>
        <p:spPr>
          <a:xfrm>
            <a:off x="8979408" y="2560320"/>
            <a:ext cx="201168" cy="201168"/>
          </a:xfrm>
          <a:prstGeom prst="ellipse">
            <a:avLst/>
          </a:prstGeom>
          <a:solidFill>
            <a:srgbClr val="4FA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79408" y="256032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81160" y="2542032"/>
            <a:ext cx="21214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D302B"/>
                </a:solidFill>
                <a:latin typeface="Aptos"/>
              </a:rPr>
              <a:t>Revisa las fechas del recibo.</a:t>
            </a:r>
          </a:p>
        </p:txBody>
      </p:sp>
      <p:sp>
        <p:nvSpPr>
          <p:cNvPr id="69" name="Oval 68"/>
          <p:cNvSpPr/>
          <p:nvPr/>
        </p:nvSpPr>
        <p:spPr>
          <a:xfrm>
            <a:off x="8979408" y="2944368"/>
            <a:ext cx="201168" cy="201168"/>
          </a:xfrm>
          <a:prstGeom prst="ellipse">
            <a:avLst/>
          </a:prstGeom>
          <a:solidFill>
            <a:srgbClr val="4FA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79408" y="2944368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81160" y="2926079"/>
            <a:ext cx="21214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D302B"/>
                </a:solidFill>
                <a:latin typeface="Aptos"/>
              </a:rPr>
              <a:t>Captura el consumo en kWh.</a:t>
            </a:r>
          </a:p>
        </p:txBody>
      </p:sp>
      <p:sp>
        <p:nvSpPr>
          <p:cNvPr id="72" name="Oval 71"/>
          <p:cNvSpPr/>
          <p:nvPr/>
        </p:nvSpPr>
        <p:spPr>
          <a:xfrm>
            <a:off x="8979408" y="3328415"/>
            <a:ext cx="201168" cy="201168"/>
          </a:xfrm>
          <a:prstGeom prst="ellipse">
            <a:avLst/>
          </a:prstGeom>
          <a:solidFill>
            <a:srgbClr val="4FA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979408" y="3328415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81160" y="3310127"/>
            <a:ext cx="21214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D302B"/>
                </a:solidFill>
                <a:latin typeface="Aptos"/>
              </a:rPr>
              <a:t>Ingresa el importe facturado.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705088" y="4041648"/>
            <a:ext cx="2962656" cy="10332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D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79408" y="4224528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1D302B"/>
                </a:solidFill>
                <a:latin typeface="Aptos"/>
              </a:rPr>
              <a:t>Validación de datos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79408" y="4507992"/>
            <a:ext cx="235915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C7B75"/>
                </a:solidFill>
                <a:latin typeface="Aptos"/>
              </a:rPr>
              <a:t>Si falta un campo obligatorio o un valor no es válido, el sistema mostrará un mensaje para corregirlo.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705088" y="5257800"/>
            <a:ext cx="2962656" cy="813816"/>
          </a:xfrm>
          <a:prstGeom prst="roundRect">
            <a:avLst>
              <a:gd name="adj" fmla="val 12000"/>
            </a:avLst>
          </a:prstGeom>
          <a:solidFill>
            <a:srgbClr val="FF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42832" y="5385816"/>
            <a:ext cx="24688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D641B"/>
                </a:solidFill>
                <a:latin typeface="Aptos"/>
              </a:rPr>
              <a:t>Sin conexión automática con CFE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42832" y="5623560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D641B"/>
                </a:solidFill>
                <a:latin typeface="Aptos"/>
              </a:rPr>
              <a:t>La captura la realiza el usuario.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67712" cy="6858000"/>
          </a:xfrm>
          <a:prstGeom prst="rect">
            <a:avLst/>
          </a:prstGeom>
          <a:solidFill>
            <a:srgbClr val="173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46888" y="274320"/>
            <a:ext cx="438912" cy="438912"/>
          </a:xfrm>
          <a:prstGeom prst="ellipse">
            <a:avLst/>
          </a:prstGeom>
          <a:solidFill>
            <a:srgbClr val="4FA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46888" y="27432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6888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 Display"/>
              </a:rPr>
              <a:t>ENERGÍA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75488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B8CCC2"/>
                </a:solidFill>
                <a:latin typeface="Aptos"/>
              </a:rPr>
              <a:t>CONTROL DEL HOGAR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" y="868680"/>
            <a:ext cx="1801368" cy="0"/>
          </a:xfrm>
          <a:prstGeom prst="line">
            <a:avLst/>
          </a:prstGeom>
          <a:ln w="10160">
            <a:solidFill>
              <a:srgbClr val="34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1033271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97B4A7"/>
                </a:solidFill>
                <a:latin typeface="Aptos"/>
              </a:rPr>
              <a:t>MENÚ PRINCIPAL</a:t>
            </a:r>
          </a:p>
        </p:txBody>
      </p:sp>
      <p:sp>
        <p:nvSpPr>
          <p:cNvPr id="9" name="Oval 8"/>
          <p:cNvSpPr/>
          <p:nvPr/>
        </p:nvSpPr>
        <p:spPr>
          <a:xfrm>
            <a:off x="338328" y="1481328"/>
            <a:ext cx="128016" cy="128016"/>
          </a:xfrm>
          <a:prstGeom prst="ellipse">
            <a:avLst/>
          </a:prstGeom>
          <a:solidFill>
            <a:srgbClr val="3B6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1467612"/>
            <a:ext cx="12801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C8D8D0"/>
                </a:solidFill>
                <a:latin typeface="Aptos"/>
              </a:rP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389888"/>
            <a:ext cx="13898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8D8D0"/>
                </a:solidFill>
                <a:latin typeface="Aptos"/>
              </a:rPr>
              <a:t>Panel principal</a:t>
            </a:r>
          </a:p>
        </p:txBody>
      </p:sp>
      <p:sp>
        <p:nvSpPr>
          <p:cNvPr id="12" name="Oval 11"/>
          <p:cNvSpPr/>
          <p:nvPr/>
        </p:nvSpPr>
        <p:spPr>
          <a:xfrm>
            <a:off x="338328" y="1984248"/>
            <a:ext cx="128016" cy="128016"/>
          </a:xfrm>
          <a:prstGeom prst="ellipse">
            <a:avLst/>
          </a:prstGeom>
          <a:solidFill>
            <a:srgbClr val="3B6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1970531"/>
            <a:ext cx="12801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C8D8D0"/>
                </a:solidFill>
                <a:latin typeface="Aptos"/>
              </a:rPr>
              <a:t>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892807"/>
            <a:ext cx="13898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8D8D0"/>
                </a:solidFill>
                <a:latin typeface="Aptos"/>
              </a:rPr>
              <a:t>Registrar recibo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4592" y="2377440"/>
            <a:ext cx="1938528" cy="393192"/>
          </a:xfrm>
          <a:prstGeom prst="roundRect">
            <a:avLst>
              <a:gd name="adj" fmla="val 12000"/>
            </a:avLst>
          </a:prstGeom>
          <a:solidFill>
            <a:srgbClr val="204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0896" y="2482596"/>
            <a:ext cx="182880" cy="182880"/>
          </a:xfrm>
          <a:prstGeom prst="ellipse">
            <a:avLst/>
          </a:prstGeom>
          <a:solidFill>
            <a:srgbClr val="4FA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" y="2468880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395728"/>
            <a:ext cx="13898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Historial y comparación</a:t>
            </a:r>
          </a:p>
        </p:txBody>
      </p:sp>
      <p:sp>
        <p:nvSpPr>
          <p:cNvPr id="19" name="Oval 18"/>
          <p:cNvSpPr/>
          <p:nvPr/>
        </p:nvSpPr>
        <p:spPr>
          <a:xfrm>
            <a:off x="338328" y="2990088"/>
            <a:ext cx="128016" cy="128016"/>
          </a:xfrm>
          <a:prstGeom prst="ellipse">
            <a:avLst/>
          </a:prstGeom>
          <a:solidFill>
            <a:srgbClr val="3B6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" y="2976372"/>
            <a:ext cx="12801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C8D8D0"/>
                </a:solidFill>
                <a:latin typeface="Aptos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898648"/>
            <a:ext cx="13898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8D8D0"/>
                </a:solidFill>
                <a:latin typeface="Aptos"/>
              </a:rPr>
              <a:t>Análisis y recomendaciones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" y="5431536"/>
            <a:ext cx="1865376" cy="859536"/>
          </a:xfrm>
          <a:prstGeom prst="roundRect">
            <a:avLst>
              <a:gd name="adj" fmla="val 12000"/>
            </a:avLst>
          </a:prstGeom>
          <a:solidFill>
            <a:srgbClr val="204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47472" y="5586984"/>
            <a:ext cx="283464" cy="283464"/>
          </a:xfrm>
          <a:prstGeom prst="ellipse">
            <a:avLst/>
          </a:prstGeom>
          <a:solidFill>
            <a:srgbClr val="315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5582412"/>
            <a:ext cx="28346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AE9E0"/>
                </a:solidFill>
                <a:latin typeface="Aptos"/>
              </a:rPr>
              <a:t>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" y="551383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Vivienda familiar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5760720"/>
            <a:ext cx="12070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C4D7CD"/>
                </a:solidFill>
                <a:latin typeface="Aptos"/>
              </a:rPr>
              <a:t>Tuzamapan · Caso hipotético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" y="6446520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97B4A7"/>
                </a:solidFill>
                <a:latin typeface="Aptos"/>
              </a:rPr>
              <a:t>PROTOTIPO ACADÉMICO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78608" y="246888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D302B"/>
                </a:solidFill>
                <a:latin typeface="Aptos Display"/>
              </a:rPr>
              <a:t>Historial y comparación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96896" y="667512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C7B75"/>
                </a:solidFill>
                <a:latin typeface="Aptos"/>
              </a:rPr>
              <a:t>Consulta tus registros y compara dos periodos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93808" y="329184"/>
            <a:ext cx="1417320" cy="283464"/>
          </a:xfrm>
          <a:prstGeom prst="roundRect">
            <a:avLst>
              <a:gd name="adj" fmla="val 12000"/>
            </a:avLst>
          </a:prstGeom>
          <a:solidFill>
            <a:srgbClr val="FF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8672" y="329184"/>
            <a:ext cx="13075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8D641B"/>
                </a:solidFill>
                <a:latin typeface="Aptos"/>
              </a:rPr>
              <a:t>DATOS HIPOTÉTICOS</a:t>
            </a:r>
          </a:p>
        </p:txBody>
      </p:sp>
      <p:sp>
        <p:nvSpPr>
          <p:cNvPr id="32" name="Oval 31"/>
          <p:cNvSpPr/>
          <p:nvPr/>
        </p:nvSpPr>
        <p:spPr>
          <a:xfrm>
            <a:off x="11484864" y="292608"/>
            <a:ext cx="384048" cy="384048"/>
          </a:xfrm>
          <a:prstGeom prst="ellipse">
            <a:avLst/>
          </a:prstGeom>
          <a:solidFill>
            <a:srgbClr val="E4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84864" y="2926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E35"/>
                </a:solidFill>
                <a:latin typeface="Aptos"/>
              </a:rPr>
              <a:t>U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42032" y="1051560"/>
            <a:ext cx="9272016" cy="0"/>
          </a:xfrm>
          <a:prstGeom prst="line">
            <a:avLst/>
          </a:prstGeom>
          <a:ln w="12700">
            <a:solidFill>
              <a:srgbClr val="DDE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596896" y="6547104"/>
            <a:ext cx="5669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7948E"/>
                </a:solidFill>
                <a:latin typeface="Aptos"/>
              </a:rPr>
              <a:t>Prototipo visual · Sin conexión automática con CFE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6547104"/>
            <a:ext cx="162763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7948E"/>
                </a:solidFill>
                <a:latin typeface="Aptos"/>
              </a:rPr>
              <a:t>PANTALLA 3 DE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96896" y="125272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D302B"/>
                </a:solidFill>
                <a:latin typeface="Aptos Display"/>
              </a:rPr>
              <a:t>Recibos registrados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96896" y="1527048"/>
            <a:ext cx="56692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C7B75"/>
                </a:solidFill>
                <a:latin typeface="Aptos"/>
              </a:rPr>
              <a:t>Ejemplo de historial con dos periodos consecutivos.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64624" y="1298448"/>
            <a:ext cx="2103120" cy="256032"/>
          </a:xfrm>
          <a:prstGeom prst="roundRect">
            <a:avLst>
              <a:gd name="adj" fmla="val 12000"/>
            </a:avLst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19488" y="1298448"/>
            <a:ext cx="199339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3D6F87"/>
                </a:solidFill>
                <a:latin typeface="Aptos"/>
              </a:rPr>
              <a:t>2 REGISTROS DE EJEMPLO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96896" y="1865376"/>
            <a:ext cx="9070848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D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788920" y="2057400"/>
            <a:ext cx="8668512" cy="393192"/>
          </a:xfrm>
          <a:prstGeom prst="roundRect">
            <a:avLst>
              <a:gd name="adj" fmla="val 12000"/>
            </a:avLst>
          </a:prstGeom>
          <a:solidFill>
            <a:srgbClr val="F0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62656" y="2084831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6C7B75"/>
                </a:solidFill>
                <a:latin typeface="Aptos"/>
              </a:rPr>
              <a:t>Periodo facturado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2084831"/>
            <a:ext cx="1143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6C7B75"/>
                </a:solidFill>
                <a:latin typeface="Aptos"/>
              </a:rPr>
              <a:t>Consumo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20" y="2084831"/>
            <a:ext cx="12252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6C7B75"/>
                </a:solidFill>
                <a:latin typeface="Aptos"/>
              </a:rPr>
              <a:t>Importe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2084831"/>
            <a:ext cx="15270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6C7B75"/>
                </a:solidFill>
                <a:latin typeface="Aptos"/>
              </a:rPr>
              <a:t>Estado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62656" y="2578608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D302B"/>
                </a:solidFill>
                <a:latin typeface="Aptos"/>
              </a:rPr>
              <a:t>01 ago – 31 ago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3368" y="2578608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D302B"/>
                </a:solidFill>
                <a:latin typeface="Aptos"/>
              </a:rPr>
              <a:t>285 kWh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81544" y="2578608"/>
            <a:ext cx="12618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D302B"/>
                </a:solidFill>
                <a:latin typeface="Aptos"/>
              </a:rPr>
              <a:t>$612.00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38944" y="2615184"/>
            <a:ext cx="1024128" cy="219456"/>
          </a:xfrm>
          <a:prstGeom prst="roundRect">
            <a:avLst>
              <a:gd name="adj" fmla="val 12000"/>
            </a:avLst>
          </a:prstGeom>
          <a:solidFill>
            <a:srgbClr val="EA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93808" y="261518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3D6F87"/>
                </a:solidFill>
                <a:latin typeface="Aptos"/>
              </a:rPr>
              <a:t>ANTERIOR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834640" y="2971800"/>
            <a:ext cx="8613648" cy="0"/>
          </a:xfrm>
          <a:prstGeom prst="line">
            <a:avLst/>
          </a:prstGeom>
          <a:ln w="8890">
            <a:solidFill>
              <a:srgbClr val="DDE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962656" y="3127248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D302B"/>
                </a:solidFill>
                <a:latin typeface="Aptos"/>
              </a:rPr>
              <a:t>01 sep – 30 sep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73368" y="3127248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D302B"/>
                </a:solidFill>
                <a:latin typeface="Aptos"/>
              </a:rPr>
              <a:t>320 kWh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81544" y="3127248"/>
            <a:ext cx="12618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D302B"/>
                </a:solidFill>
                <a:latin typeface="Aptos"/>
              </a:rPr>
              <a:t>$698.00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38944" y="3163824"/>
            <a:ext cx="1024128" cy="219456"/>
          </a:xfrm>
          <a:prstGeom prst="roundRect">
            <a:avLst>
              <a:gd name="adj" fmla="val 12000"/>
            </a:avLst>
          </a:prstGeom>
          <a:solidFill>
            <a:srgbClr val="E5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93808" y="316382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E7D5B"/>
                </a:solidFill>
                <a:latin typeface="Aptos"/>
              </a:rPr>
              <a:t>ACTUAL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96896" y="40965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D302B"/>
                </a:solidFill>
                <a:latin typeface="Aptos Display"/>
              </a:rPr>
              <a:t>Comparar periodos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96896" y="4379976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6C7B75"/>
                </a:solidFill>
                <a:latin typeface="Aptos"/>
              </a:rPr>
              <a:t>Selecciona dos registros para calcular las diferencias.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596896" y="4727448"/>
            <a:ext cx="2770632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D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79776" y="4764024"/>
            <a:ext cx="134416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C7B75"/>
                </a:solidFill>
                <a:latin typeface="Aptos"/>
              </a:rPr>
              <a:t>Periodo anterior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79776" y="4937760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D302B"/>
                </a:solidFill>
                <a:latin typeface="Aptos"/>
              </a:rPr>
              <a:t>Agosto 2026  ▾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522976" y="4727448"/>
            <a:ext cx="2770632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D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705856" y="4764024"/>
            <a:ext cx="134416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6C7B75"/>
                </a:solidFill>
                <a:latin typeface="Aptos"/>
              </a:rPr>
              <a:t>Periodo actual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05856" y="4937760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D302B"/>
                </a:solidFill>
                <a:latin typeface="Aptos"/>
              </a:rPr>
              <a:t>Septiembre 2026  ▾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494776" y="4727448"/>
            <a:ext cx="1490472" cy="502920"/>
          </a:xfrm>
          <a:prstGeom prst="roundRect">
            <a:avLst>
              <a:gd name="adj" fmla="val 12000"/>
            </a:avLst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40496" y="4745736"/>
            <a:ext cx="13990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Comparar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596896" y="5468112"/>
            <a:ext cx="4325112" cy="749808"/>
          </a:xfrm>
          <a:prstGeom prst="roundRect">
            <a:avLst>
              <a:gd name="adj" fmla="val 12000"/>
            </a:avLst>
          </a:prstGeom>
          <a:solidFill>
            <a:srgbClr val="F0F8F2"/>
          </a:solidFill>
          <a:ln w="10160">
            <a:solidFill>
              <a:srgbClr val="D6E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807208" y="5559552"/>
            <a:ext cx="213055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C7B75"/>
                </a:solidFill>
                <a:latin typeface="Aptos"/>
              </a:rPr>
              <a:t>DIFERENCIA DE CONSUMO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07208" y="5751576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E7D5B"/>
                </a:solidFill>
                <a:latin typeface="Aptos Display"/>
              </a:rPr>
              <a:t>+35 kWh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47488" y="5742432"/>
            <a:ext cx="133502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D5B"/>
                </a:solidFill>
                <a:latin typeface="Aptos"/>
              </a:rPr>
              <a:t>+12.3%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104888" y="5468112"/>
            <a:ext cx="4562856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D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0" y="5559552"/>
            <a:ext cx="32004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C7B75"/>
                </a:solidFill>
                <a:latin typeface="Aptos"/>
              </a:rPr>
              <a:t>VARIACIÓN DEL IMPORTE FACTURADO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15200" y="5751576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D302B"/>
                </a:solidFill>
                <a:latin typeface="Aptos Display"/>
              </a:rPr>
              <a:t>+$86.00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75520" y="5742432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99B2B"/>
                </a:solidFill>
                <a:latin typeface="Aptos"/>
              </a:rPr>
              <a:t>+14.1%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67712" cy="6858000"/>
          </a:xfrm>
          <a:prstGeom prst="rect">
            <a:avLst/>
          </a:prstGeom>
          <a:solidFill>
            <a:srgbClr val="173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46888" y="274320"/>
            <a:ext cx="438912" cy="438912"/>
          </a:xfrm>
          <a:prstGeom prst="ellipse">
            <a:avLst/>
          </a:prstGeom>
          <a:solidFill>
            <a:srgbClr val="4FA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46888" y="27432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6888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 Display"/>
              </a:rPr>
              <a:t>ENERGÍA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75488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B8CCC2"/>
                </a:solidFill>
                <a:latin typeface="Aptos"/>
              </a:rPr>
              <a:t>CONTROL DEL HOGAR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" y="868680"/>
            <a:ext cx="1801368" cy="0"/>
          </a:xfrm>
          <a:prstGeom prst="line">
            <a:avLst/>
          </a:prstGeom>
          <a:ln w="10160">
            <a:solidFill>
              <a:srgbClr val="3458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4320" y="1033271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97B4A7"/>
                </a:solidFill>
                <a:latin typeface="Aptos"/>
              </a:rPr>
              <a:t>MENÚ PRINCIPAL</a:t>
            </a:r>
          </a:p>
        </p:txBody>
      </p:sp>
      <p:sp>
        <p:nvSpPr>
          <p:cNvPr id="9" name="Oval 8"/>
          <p:cNvSpPr/>
          <p:nvPr/>
        </p:nvSpPr>
        <p:spPr>
          <a:xfrm>
            <a:off x="338328" y="1481328"/>
            <a:ext cx="128016" cy="128016"/>
          </a:xfrm>
          <a:prstGeom prst="ellipse">
            <a:avLst/>
          </a:prstGeom>
          <a:solidFill>
            <a:srgbClr val="3B6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1467612"/>
            <a:ext cx="12801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C8D8D0"/>
                </a:solidFill>
                <a:latin typeface="Aptos"/>
              </a:rP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389888"/>
            <a:ext cx="13898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8D8D0"/>
                </a:solidFill>
                <a:latin typeface="Aptos"/>
              </a:rPr>
              <a:t>Panel principal</a:t>
            </a:r>
          </a:p>
        </p:txBody>
      </p:sp>
      <p:sp>
        <p:nvSpPr>
          <p:cNvPr id="12" name="Oval 11"/>
          <p:cNvSpPr/>
          <p:nvPr/>
        </p:nvSpPr>
        <p:spPr>
          <a:xfrm>
            <a:off x="338328" y="1984248"/>
            <a:ext cx="128016" cy="128016"/>
          </a:xfrm>
          <a:prstGeom prst="ellipse">
            <a:avLst/>
          </a:prstGeom>
          <a:solidFill>
            <a:srgbClr val="3B6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1970531"/>
            <a:ext cx="12801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C8D8D0"/>
                </a:solidFill>
                <a:latin typeface="Aptos"/>
              </a:rPr>
              <a:t>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892807"/>
            <a:ext cx="13898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8D8D0"/>
                </a:solidFill>
                <a:latin typeface="Aptos"/>
              </a:rPr>
              <a:t>Registrar recibo</a:t>
            </a:r>
          </a:p>
        </p:txBody>
      </p:sp>
      <p:sp>
        <p:nvSpPr>
          <p:cNvPr id="15" name="Oval 14"/>
          <p:cNvSpPr/>
          <p:nvPr/>
        </p:nvSpPr>
        <p:spPr>
          <a:xfrm>
            <a:off x="338328" y="2487168"/>
            <a:ext cx="128016" cy="128016"/>
          </a:xfrm>
          <a:prstGeom prst="ellipse">
            <a:avLst/>
          </a:prstGeom>
          <a:solidFill>
            <a:srgbClr val="3B6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2473452"/>
            <a:ext cx="12801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C8D8D0"/>
                </a:solidFill>
                <a:latin typeface="Aptos"/>
              </a:rPr>
              <a:t>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395728"/>
            <a:ext cx="13898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8D8D0"/>
                </a:solidFill>
                <a:latin typeface="Aptos"/>
              </a:rPr>
              <a:t>Historial y comparación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4592" y="2880360"/>
            <a:ext cx="1938528" cy="393192"/>
          </a:xfrm>
          <a:prstGeom prst="roundRect">
            <a:avLst>
              <a:gd name="adj" fmla="val 12000"/>
            </a:avLst>
          </a:prstGeom>
          <a:solidFill>
            <a:srgbClr val="204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10896" y="2985516"/>
            <a:ext cx="182880" cy="182880"/>
          </a:xfrm>
          <a:prstGeom prst="ellipse">
            <a:avLst/>
          </a:prstGeom>
          <a:solidFill>
            <a:srgbClr val="4FA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" y="2971800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898648"/>
            <a:ext cx="13898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Análisis y recomendaciones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" y="5431536"/>
            <a:ext cx="1865376" cy="859536"/>
          </a:xfrm>
          <a:prstGeom prst="roundRect">
            <a:avLst>
              <a:gd name="adj" fmla="val 12000"/>
            </a:avLst>
          </a:prstGeom>
          <a:solidFill>
            <a:srgbClr val="204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47472" y="5586984"/>
            <a:ext cx="283464" cy="283464"/>
          </a:xfrm>
          <a:prstGeom prst="ellipse">
            <a:avLst/>
          </a:prstGeom>
          <a:solidFill>
            <a:srgbClr val="315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5582412"/>
            <a:ext cx="28346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AE9E0"/>
                </a:solidFill>
                <a:latin typeface="Aptos"/>
              </a:rPr>
              <a:t>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" y="551383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Vivienda familiar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5760720"/>
            <a:ext cx="12070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C4D7CD"/>
                </a:solidFill>
                <a:latin typeface="Aptos"/>
              </a:rPr>
              <a:t>Tuzamapan · Caso hipotético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" y="6446520"/>
            <a:ext cx="181051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97B4A7"/>
                </a:solidFill>
                <a:latin typeface="Aptos"/>
              </a:rPr>
              <a:t>PROTOTIPO ACADÉMICO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78608" y="246888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D302B"/>
                </a:solidFill>
                <a:latin typeface="Aptos Display"/>
              </a:rPr>
              <a:t>Análisis y recomendaciones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96896" y="667512"/>
            <a:ext cx="68580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C7B75"/>
                </a:solidFill>
                <a:latin typeface="Aptos"/>
              </a:rPr>
              <a:t>Resultados de la comparación y orientación para ahorrar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93808" y="329184"/>
            <a:ext cx="1417320" cy="283464"/>
          </a:xfrm>
          <a:prstGeom prst="roundRect">
            <a:avLst>
              <a:gd name="adj" fmla="val 12000"/>
            </a:avLst>
          </a:prstGeom>
          <a:solidFill>
            <a:srgbClr val="FF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8672" y="329184"/>
            <a:ext cx="13075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8D641B"/>
                </a:solidFill>
                <a:latin typeface="Aptos"/>
              </a:rPr>
              <a:t>DATOS HIPOTÉTICOS</a:t>
            </a:r>
          </a:p>
        </p:txBody>
      </p:sp>
      <p:sp>
        <p:nvSpPr>
          <p:cNvPr id="32" name="Oval 31"/>
          <p:cNvSpPr/>
          <p:nvPr/>
        </p:nvSpPr>
        <p:spPr>
          <a:xfrm>
            <a:off x="11484864" y="292608"/>
            <a:ext cx="384048" cy="384048"/>
          </a:xfrm>
          <a:prstGeom prst="ellipse">
            <a:avLst/>
          </a:prstGeom>
          <a:solidFill>
            <a:srgbClr val="E4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84864" y="29260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E35"/>
                </a:solidFill>
                <a:latin typeface="Aptos"/>
              </a:rPr>
              <a:t>U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42032" y="1051560"/>
            <a:ext cx="9272016" cy="0"/>
          </a:xfrm>
          <a:prstGeom prst="line">
            <a:avLst/>
          </a:prstGeom>
          <a:ln w="12700">
            <a:solidFill>
              <a:srgbClr val="DDE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596896" y="6547104"/>
            <a:ext cx="56692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7948E"/>
                </a:solidFill>
                <a:latin typeface="Aptos"/>
              </a:rPr>
              <a:t>Prototipo visual · Sin conexión automática con CFE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6547104"/>
            <a:ext cx="162763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7948E"/>
                </a:solidFill>
                <a:latin typeface="Aptos"/>
              </a:rPr>
              <a:t>PANTALLA 4 DE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96896" y="125272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D302B"/>
                </a:solidFill>
                <a:latin typeface="Aptos Display"/>
              </a:rPr>
              <a:t>Resultado del análisis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96896" y="1527048"/>
            <a:ext cx="64008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C7B75"/>
                </a:solidFill>
                <a:latin typeface="Aptos"/>
              </a:rPr>
              <a:t>La regla se aplica a los datos capturados por el usuario.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96896" y="1874519"/>
            <a:ext cx="5650992" cy="1993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D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16352" y="2103120"/>
            <a:ext cx="960120" cy="960120"/>
          </a:xfrm>
          <a:prstGeom prst="roundRect">
            <a:avLst>
              <a:gd name="adj" fmla="val 12000"/>
            </a:avLst>
          </a:prstGeom>
          <a:solidFill>
            <a:srgbClr val="FF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16352" y="2103120"/>
            <a:ext cx="9601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D99B2B"/>
                </a:solidFill>
                <a:latin typeface="Aptos"/>
              </a:rPr>
              <a:t>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14215" y="2075688"/>
            <a:ext cx="382219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D302B"/>
                </a:solidFill>
                <a:latin typeface="Aptos Display"/>
              </a:rPr>
              <a:t>Consumo en aumento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023360" y="2459736"/>
            <a:ext cx="2075688" cy="237744"/>
          </a:xfrm>
          <a:prstGeom prst="roundRect">
            <a:avLst>
              <a:gd name="adj" fmla="val 12000"/>
            </a:avLst>
          </a:prstGeom>
          <a:solidFill>
            <a:srgbClr val="FFF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78224" y="2459736"/>
            <a:ext cx="1965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8D641B"/>
                </a:solidFill>
                <a:latin typeface="Aptos"/>
              </a:rPr>
              <a:t>RECOMENDACIÓN ACTIVADA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23360" y="278892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C7B75"/>
                </a:solidFill>
                <a:latin typeface="Aptos"/>
              </a:rPr>
              <a:t>El consumo actual supera al del periodo anterior.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23360" y="3154680"/>
            <a:ext cx="15087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E7D5B"/>
                </a:solidFill>
                <a:latin typeface="Aptos Display"/>
              </a:rPr>
              <a:t>+35 kWh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59552" y="3191256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E7D5B"/>
                </a:solidFill>
                <a:latin typeface="Aptos"/>
              </a:rPr>
              <a:t>+12.3% frente al periodo anterior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476488" y="1874519"/>
            <a:ext cx="3191256" cy="1993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D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23376" y="21031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302B"/>
                </a:solidFill>
                <a:latin typeface="Aptos Display"/>
              </a:rPr>
              <a:t>Cómo se calculó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23376" y="2514600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C7B75"/>
                </a:solidFill>
                <a:latin typeface="Aptos"/>
              </a:rPr>
              <a:t>Consumo anterior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251460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1D302B"/>
                </a:solidFill>
                <a:latin typeface="Aptos"/>
              </a:rPr>
              <a:t>285 kWh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23376" y="2788920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C7B75"/>
                </a:solidFill>
                <a:latin typeface="Aptos"/>
              </a:rPr>
              <a:t>Consumo actual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41280" y="278892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1D302B"/>
                </a:solidFill>
                <a:latin typeface="Aptos"/>
              </a:rPr>
              <a:t>320 kWh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723376" y="3072384"/>
            <a:ext cx="2633472" cy="0"/>
          </a:xfrm>
          <a:prstGeom prst="line">
            <a:avLst/>
          </a:prstGeom>
          <a:ln w="10160">
            <a:solidFill>
              <a:srgbClr val="DDE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723376" y="317296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6C7B75"/>
                </a:solidFill>
                <a:latin typeface="Aptos"/>
              </a:rPr>
              <a:t>Diferencia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41280" y="3145536"/>
            <a:ext cx="10972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E7D5B"/>
                </a:solidFill>
                <a:latin typeface="Aptos"/>
              </a:rPr>
              <a:t>+35 kWh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596896" y="4096512"/>
            <a:ext cx="9070848" cy="1920240"/>
          </a:xfrm>
          <a:prstGeom prst="roundRect">
            <a:avLst>
              <a:gd name="adj" fmla="val 12000"/>
            </a:avLst>
          </a:prstGeom>
          <a:solidFill>
            <a:srgbClr val="F0F8F2"/>
          </a:solidFill>
          <a:ln w="10160">
            <a:solidFill>
              <a:srgbClr val="D6E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852928" y="4325112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E35"/>
                </a:solidFill>
                <a:latin typeface="Aptos Display"/>
              </a:rPr>
              <a:t>Recomendaciones generales de ahorro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52928" y="4617720"/>
            <a:ext cx="818387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C7B75"/>
                </a:solidFill>
                <a:latin typeface="Aptos"/>
              </a:rPr>
              <a:t>El sistema no identifica aparatos específicos; ofrece orientación general a partir del incremento detectado.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852928" y="4965192"/>
            <a:ext cx="2578608" cy="8321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D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990088" y="5120640"/>
            <a:ext cx="256032" cy="256032"/>
          </a:xfrm>
          <a:prstGeom prst="ellipse">
            <a:avLst/>
          </a:prstGeom>
          <a:solidFill>
            <a:srgbClr val="4FA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90088" y="512064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28416" y="5056632"/>
            <a:ext cx="195681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D302B"/>
                </a:solidFill>
                <a:latin typeface="Aptos"/>
              </a:rPr>
              <a:t>Revisa hábitos de uso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28416" y="5303520"/>
            <a:ext cx="193852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C7B75"/>
                </a:solidFill>
                <a:latin typeface="Aptos"/>
              </a:rPr>
              <a:t>Observa en qué momentos se utiliza más electricidad.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669280" y="4965192"/>
            <a:ext cx="2578608" cy="8321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D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806440" y="5120640"/>
            <a:ext cx="256032" cy="256032"/>
          </a:xfrm>
          <a:prstGeom prst="ellipse">
            <a:avLst/>
          </a:prstGeom>
          <a:solidFill>
            <a:srgbClr val="4FA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806440" y="512064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44768" y="5056632"/>
            <a:ext cx="195681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D302B"/>
                </a:solidFill>
                <a:latin typeface="Aptos"/>
              </a:rPr>
              <a:t>Evita consumos innecesarios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44768" y="5303520"/>
            <a:ext cx="193852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C7B75"/>
                </a:solidFill>
                <a:latin typeface="Aptos"/>
              </a:rPr>
              <a:t>Apaga luces y equipos cuando no se utilicen.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485632" y="4965192"/>
            <a:ext cx="2578608" cy="8321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D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622792" y="5120640"/>
            <a:ext cx="256032" cy="256032"/>
          </a:xfrm>
          <a:prstGeom prst="ellipse">
            <a:avLst/>
          </a:prstGeom>
          <a:solidFill>
            <a:srgbClr val="4FA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622792" y="512064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61120" y="5056632"/>
            <a:ext cx="195681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D302B"/>
                </a:solidFill>
                <a:latin typeface="Aptos"/>
              </a:rPr>
              <a:t>Compara el próximo recibo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61120" y="5303520"/>
            <a:ext cx="193852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C7B75"/>
                </a:solidFill>
                <a:latin typeface="Aptos"/>
              </a:rPr>
              <a:t>Verifica si el incremento se mantiene en el siguiente periodo.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52928" y="5852160"/>
            <a:ext cx="81381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E7D5B"/>
                </a:solidFill>
                <a:latin typeface="Aptos"/>
              </a:rPr>
              <a:t>Regla utilizada: si el consumo actual en kWh es mayor que el anterior, se muestra una recomendación.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Prototipo visual - Control de consumo energético en casa habitación</dc:title>
  <dc:subject>Cuatro pantallas de prototipo académico con datos hipotéticos</dc:subject>
  <dc:creator>OpenAI</dc:creator>
  <cp:keywords>consumo energético, CFE, prototipo,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